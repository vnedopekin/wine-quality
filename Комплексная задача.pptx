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embeddedFontLst>
    <p:embeddedFont>
      <p:font typeface="Arial Black" panose="020B0A04020102020204" pitchFamily="34" charset="0"/>
      <p:regular r:id="rId13"/>
      <p:bold r:id="rId14"/>
    </p:embeddedFont>
    <p:embeddedFont>
      <p:font typeface="Roboto" panose="020000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14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211">
          <p15:clr>
            <a:srgbClr val="9AA0A6"/>
          </p15:clr>
        </p15:guide>
        <p15:guide id="4" pos="1048">
          <p15:clr>
            <a:srgbClr val="A4A3A4"/>
          </p15:clr>
        </p15:guide>
        <p15:guide id="5" pos="7401">
          <p15:clr>
            <a:srgbClr val="A4A3A4"/>
          </p15:clr>
        </p15:guide>
        <p15:guide id="6" orient="horz" pos="3974">
          <p15:clr>
            <a:srgbClr val="9AA0A6"/>
          </p15:clr>
        </p15:guide>
        <p15:guide id="7" orient="horz" pos="565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gjsNs7cBCsvKrS8Esw9Okpragf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2146" y="67"/>
      </p:cViewPr>
      <p:guideLst>
        <p:guide orient="horz" pos="414"/>
        <p:guide pos="3840"/>
        <p:guide orient="horz" pos="1211"/>
        <p:guide pos="1048"/>
        <p:guide pos="7401"/>
        <p:guide orient="horz" pos="3974"/>
        <p:guide orient="horz" pos="56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18a69967c6e_0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g18a69967c6e_0_5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" name="Google Shape;33;g18a69967c6e_0_5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8a69967c6e_0_5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g18a69967c6e_0_5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" name="Google Shape;41;g18a69967c6e_0_5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" name="Google Shape;5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8a69967c6e_0_5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g18a69967c6e_0_5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" name="Google Shape;60;g18a69967c6e_0_5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8a69967c6e_0_5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18a69967c6e_0_5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" name="Google Shape;68;g18a69967c6e_0_5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" name="Google Shape;7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688CB36B-1D91-18A2-D087-7B2CF04DF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>
            <a:extLst>
              <a:ext uri="{FF2B5EF4-FFF2-40B4-BE49-F238E27FC236}">
                <a16:creationId xmlns:a16="http://schemas.microsoft.com/office/drawing/2014/main" id="{8D3596B8-8077-08A7-44D2-7194B78D1B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7:notes">
            <a:extLst>
              <a:ext uri="{FF2B5EF4-FFF2-40B4-BE49-F238E27FC236}">
                <a16:creationId xmlns:a16="http://schemas.microsoft.com/office/drawing/2014/main" id="{3C0828DC-E5BF-884D-F143-3122A4BA9E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" name="Google Shape;76;p7:notes">
            <a:extLst>
              <a:ext uri="{FF2B5EF4-FFF2-40B4-BE49-F238E27FC236}">
                <a16:creationId xmlns:a16="http://schemas.microsoft.com/office/drawing/2014/main" id="{B66F0529-6B89-7BEB-47A9-A1B1CBCEB21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56844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f64a1591f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g2f64a1591f3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g2f64a1591f3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7f4edb2c82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7f4edb2c82_3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g17f4edb2c82_3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модуля без ВК">
  <p:cSld name="TITLE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8a69967c6e_0_48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" name="Google Shape;15;g18a69967c6e_0_482"/>
          <p:cNvSpPr txBox="1">
            <a:spLocks noGrp="1"/>
          </p:cNvSpPr>
          <p:nvPr>
            <p:ph type="title"/>
          </p:nvPr>
        </p:nvSpPr>
        <p:spPr>
          <a:xfrm>
            <a:off x="2902650" y="2200475"/>
            <a:ext cx="63867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Roboto"/>
              <a:buNone/>
              <a:defRPr sz="4800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g18a69967c6e_0_482"/>
          <p:cNvSpPr txBox="1">
            <a:spLocks noGrp="1"/>
          </p:cNvSpPr>
          <p:nvPr>
            <p:ph type="subTitle" idx="1"/>
          </p:nvPr>
        </p:nvSpPr>
        <p:spPr>
          <a:xfrm>
            <a:off x="1044250" y="4957500"/>
            <a:ext cx="67911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Roboto"/>
              <a:buNone/>
              <a:defRPr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g18a69967c6e_0_482"/>
          <p:cNvSpPr txBox="1">
            <a:spLocks noGrp="1"/>
          </p:cNvSpPr>
          <p:nvPr>
            <p:ph type="subTitle" idx="2"/>
          </p:nvPr>
        </p:nvSpPr>
        <p:spPr>
          <a:xfrm>
            <a:off x="1044250" y="5534950"/>
            <a:ext cx="67029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Roboto"/>
              <a:buNone/>
              <a:defRPr sz="1800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pic>
        <p:nvPicPr>
          <p:cNvPr id="18" name="Google Shape;18;g18a69967c6e_0_4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91437" y="1302325"/>
            <a:ext cx="1009125" cy="10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g18a69967c6e_0_4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3550" y="4874050"/>
            <a:ext cx="20825" cy="108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ели и итоги без ВК">
  <p:cSld name="OBJECT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18a69967c6e_0_497"/>
          <p:cNvSpPr txBox="1">
            <a:spLocks noGrp="1"/>
          </p:cNvSpPr>
          <p:nvPr>
            <p:ph type="body" idx="1"/>
          </p:nvPr>
        </p:nvSpPr>
        <p:spPr>
          <a:xfrm>
            <a:off x="4696875" y="1939800"/>
            <a:ext cx="7254300" cy="46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●"/>
              <a:defRPr>
                <a:solidFill>
                  <a:srgbClr val="002060"/>
                </a:solidFill>
              </a:defRPr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○"/>
              <a:defRPr>
                <a:solidFill>
                  <a:srgbClr val="002060"/>
                </a:solidFill>
              </a:defRPr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■"/>
              <a:defRPr>
                <a:solidFill>
                  <a:srgbClr val="002060"/>
                </a:solidFill>
              </a:defRPr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  <a:defRPr>
                <a:solidFill>
                  <a:srgbClr val="002060"/>
                </a:solidFill>
              </a:defRPr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○"/>
              <a:defRPr>
                <a:solidFill>
                  <a:srgbClr val="002060"/>
                </a:solidFill>
              </a:defRPr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■"/>
              <a:defRPr>
                <a:solidFill>
                  <a:srgbClr val="002060"/>
                </a:solidFill>
              </a:defRPr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  <a:defRPr>
                <a:solidFill>
                  <a:srgbClr val="002060"/>
                </a:solidFill>
              </a:defRPr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○"/>
              <a:defRPr>
                <a:solidFill>
                  <a:srgbClr val="002060"/>
                </a:solidFill>
              </a:defRPr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■"/>
              <a:defRPr>
                <a:solidFill>
                  <a:srgbClr val="002060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g18a69967c6e_0_497"/>
          <p:cNvSpPr txBox="1">
            <a:spLocks noGrp="1"/>
          </p:cNvSpPr>
          <p:nvPr>
            <p:ph type="title"/>
          </p:nvPr>
        </p:nvSpPr>
        <p:spPr>
          <a:xfrm>
            <a:off x="4696875" y="100850"/>
            <a:ext cx="6963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Roboto"/>
              <a:buNone/>
              <a:defRPr sz="3200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948">
          <p15:clr>
            <a:srgbClr val="FA7B17"/>
          </p15:clr>
        </p15:guide>
        <p15:guide id="2" orient="horz" pos="1211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2 столбцами без ВК">
  <p:cSld name="OBJECT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18a69967c6e_0_504"/>
          <p:cNvSpPr txBox="1">
            <a:spLocks noGrp="1"/>
          </p:cNvSpPr>
          <p:nvPr>
            <p:ph type="body" idx="1"/>
          </p:nvPr>
        </p:nvSpPr>
        <p:spPr>
          <a:xfrm>
            <a:off x="4680000" y="1923150"/>
            <a:ext cx="3456900" cy="43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●"/>
              <a:defRPr>
                <a:solidFill>
                  <a:srgbClr val="002060"/>
                </a:solidFill>
              </a:defRPr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○"/>
              <a:defRPr>
                <a:solidFill>
                  <a:srgbClr val="002060"/>
                </a:solidFill>
              </a:defRPr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■"/>
              <a:defRPr>
                <a:solidFill>
                  <a:srgbClr val="002060"/>
                </a:solidFill>
              </a:defRPr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  <a:defRPr>
                <a:solidFill>
                  <a:srgbClr val="002060"/>
                </a:solidFill>
              </a:defRPr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○"/>
              <a:defRPr>
                <a:solidFill>
                  <a:srgbClr val="002060"/>
                </a:solidFill>
              </a:defRPr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■"/>
              <a:defRPr>
                <a:solidFill>
                  <a:srgbClr val="002060"/>
                </a:solidFill>
              </a:defRPr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  <a:defRPr>
                <a:solidFill>
                  <a:srgbClr val="002060"/>
                </a:solidFill>
              </a:defRPr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○"/>
              <a:defRPr>
                <a:solidFill>
                  <a:srgbClr val="002060"/>
                </a:solidFill>
              </a:defRPr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■"/>
              <a:defRPr>
                <a:solidFill>
                  <a:srgbClr val="002060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g18a69967c6e_0_504"/>
          <p:cNvSpPr txBox="1">
            <a:spLocks noGrp="1"/>
          </p:cNvSpPr>
          <p:nvPr>
            <p:ph type="body" idx="2"/>
          </p:nvPr>
        </p:nvSpPr>
        <p:spPr>
          <a:xfrm>
            <a:off x="8467866" y="1923150"/>
            <a:ext cx="3456900" cy="43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●"/>
              <a:defRPr>
                <a:solidFill>
                  <a:srgbClr val="002060"/>
                </a:solidFill>
              </a:defRPr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○"/>
              <a:defRPr>
                <a:solidFill>
                  <a:srgbClr val="002060"/>
                </a:solidFill>
              </a:defRPr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■"/>
              <a:defRPr>
                <a:solidFill>
                  <a:srgbClr val="002060"/>
                </a:solidFill>
              </a:defRPr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  <a:defRPr>
                <a:solidFill>
                  <a:srgbClr val="002060"/>
                </a:solidFill>
              </a:defRPr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○"/>
              <a:defRPr>
                <a:solidFill>
                  <a:srgbClr val="002060"/>
                </a:solidFill>
              </a:defRPr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■"/>
              <a:defRPr>
                <a:solidFill>
                  <a:srgbClr val="002060"/>
                </a:solidFill>
              </a:defRPr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  <a:defRPr>
                <a:solidFill>
                  <a:srgbClr val="002060"/>
                </a:solidFill>
              </a:defRPr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○"/>
              <a:defRPr>
                <a:solidFill>
                  <a:srgbClr val="002060"/>
                </a:solidFill>
              </a:defRPr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■"/>
              <a:defRPr>
                <a:solidFill>
                  <a:srgbClr val="002060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g18a69967c6e_0_504"/>
          <p:cNvSpPr txBox="1">
            <a:spLocks noGrp="1"/>
          </p:cNvSpPr>
          <p:nvPr>
            <p:ph type="title"/>
          </p:nvPr>
        </p:nvSpPr>
        <p:spPr>
          <a:xfrm>
            <a:off x="4696875" y="100850"/>
            <a:ext cx="6963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Roboto"/>
              <a:buNone/>
              <a:defRPr sz="3200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948">
          <p15:clr>
            <a:srgbClr val="FA7B17"/>
          </p15:clr>
        </p15:guide>
        <p15:guide id="2" orient="horz" pos="1211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артинкой без ВК">
  <p:cSld name="OBJECT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18a69967c6e_0_514"/>
          <p:cNvSpPr>
            <a:spLocks noGrp="1"/>
          </p:cNvSpPr>
          <p:nvPr>
            <p:ph type="pic" idx="2"/>
          </p:nvPr>
        </p:nvSpPr>
        <p:spPr>
          <a:xfrm>
            <a:off x="4696876" y="1923150"/>
            <a:ext cx="6963600" cy="43905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g18a69967c6e_0_514"/>
          <p:cNvSpPr txBox="1">
            <a:spLocks noGrp="1"/>
          </p:cNvSpPr>
          <p:nvPr>
            <p:ph type="title"/>
          </p:nvPr>
        </p:nvSpPr>
        <p:spPr>
          <a:xfrm>
            <a:off x="4696875" y="100850"/>
            <a:ext cx="6963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Roboto"/>
              <a:buNone/>
              <a:defRPr sz="3200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948">
          <p15:clr>
            <a:srgbClr val="FA7B17"/>
          </p15:clr>
        </p15:guide>
        <p15:guide id="2" orient="horz" pos="1211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8a69967c6e_0_35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18a69967c6e_0_35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18a69967c6e_0_35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18a69967c6e_0_525"/>
          <p:cNvSpPr txBox="1">
            <a:spLocks noGrp="1"/>
          </p:cNvSpPr>
          <p:nvPr>
            <p:ph type="title"/>
          </p:nvPr>
        </p:nvSpPr>
        <p:spPr>
          <a:xfrm>
            <a:off x="2902650" y="2200475"/>
            <a:ext cx="6386700" cy="209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качества вина на основе данных физико-химических тестов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Google Shape;36;g18a69967c6e_0_525"/>
          <p:cNvSpPr txBox="1">
            <a:spLocks noGrp="1"/>
          </p:cNvSpPr>
          <p:nvPr>
            <p:ph type="subTitle" idx="1"/>
          </p:nvPr>
        </p:nvSpPr>
        <p:spPr>
          <a:xfrm>
            <a:off x="1044250" y="4811257"/>
            <a:ext cx="6791100" cy="946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None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Недопекин Валерий Олегович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Google Shape;37;g18a69967c6e_0_525"/>
          <p:cNvSpPr txBox="1">
            <a:spLocks noGrp="1"/>
          </p:cNvSpPr>
          <p:nvPr>
            <p:ph type="subTitle" idx="2"/>
          </p:nvPr>
        </p:nvSpPr>
        <p:spPr>
          <a:xfrm>
            <a:off x="1044250" y="5534950"/>
            <a:ext cx="6702900" cy="769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Продвинутые методы машинного обучения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18a69967c6e_0_546"/>
          <p:cNvSpPr txBox="1">
            <a:spLocks noGrp="1"/>
          </p:cNvSpPr>
          <p:nvPr>
            <p:ph type="title"/>
          </p:nvPr>
        </p:nvSpPr>
        <p:spPr>
          <a:xfrm>
            <a:off x="1664000" y="86750"/>
            <a:ext cx="6963600" cy="8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и постановка проблемы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Google Shape;44;g18a69967c6e_0_546"/>
          <p:cNvSpPr txBox="1">
            <a:spLocks noGrp="1"/>
          </p:cNvSpPr>
          <p:nvPr>
            <p:ph type="body" idx="1"/>
          </p:nvPr>
        </p:nvSpPr>
        <p:spPr>
          <a:xfrm>
            <a:off x="1663998" y="1859825"/>
            <a:ext cx="7087200" cy="43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44450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-RU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Востребованность качественной продукции</a:t>
            </a:r>
          </a:p>
          <a:p>
            <a:pPr marL="444500" lvl="0" indent="0" algn="just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400"/>
              <a:buNone/>
            </a:pPr>
            <a:r>
              <a:rPr lang="ru-RU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Влияние на организм человека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 lvl="0" indent="0" algn="just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400"/>
              <a:buNone/>
            </a:pPr>
            <a:r>
              <a:rPr lang="ru-RU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Корреляция физ.-хим. свойств и вкуса</a:t>
            </a:r>
          </a:p>
          <a:p>
            <a:pPr marL="444500" lvl="0" indent="0" algn="just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400"/>
              <a:buNone/>
            </a:pPr>
            <a:r>
              <a:rPr lang="ru-RU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Улучшение моделей обучения</a:t>
            </a:r>
            <a:endParaRPr lang="ru-RU" b="0" i="0" u="none" strike="noStrike" cap="none" dirty="0">
              <a:latin typeface="Arial Black" panose="020B0A04020102020204" pitchFamily="34" charset="0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400"/>
              <a:buNone/>
            </a:pPr>
            <a:endParaRPr lang="ru-RU" dirty="0"/>
          </a:p>
        </p:txBody>
      </p:sp>
      <p:sp>
        <p:nvSpPr>
          <p:cNvPr id="45" name="Google Shape;45;g18a69967c6e_0_546"/>
          <p:cNvSpPr txBox="1"/>
          <p:nvPr/>
        </p:nvSpPr>
        <p:spPr>
          <a:xfrm>
            <a:off x="1664000" y="1859825"/>
            <a:ext cx="5613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ru-RU" sz="4400" b="1" i="0" u="none" strike="noStrike" cap="none" dirty="0">
                <a:solidFill>
                  <a:srgbClr val="E6F2F9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18a69967c6e_0_546"/>
          <p:cNvSpPr txBox="1"/>
          <p:nvPr/>
        </p:nvSpPr>
        <p:spPr>
          <a:xfrm>
            <a:off x="1663999" y="2629266"/>
            <a:ext cx="5613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ru-RU" sz="4400" b="1" i="0" u="none" strike="noStrike" cap="none" dirty="0">
                <a:solidFill>
                  <a:srgbClr val="E6F2F9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g18a69967c6e_0_546"/>
          <p:cNvSpPr txBox="1"/>
          <p:nvPr/>
        </p:nvSpPr>
        <p:spPr>
          <a:xfrm>
            <a:off x="1663998" y="3398707"/>
            <a:ext cx="561300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ru-RU" sz="4400" b="1" i="0" u="none" strike="noStrike" cap="none" dirty="0">
                <a:solidFill>
                  <a:srgbClr val="E6F2F9"/>
                </a:solidFill>
                <a:latin typeface="Arial Black"/>
                <a:ea typeface="Arial"/>
                <a:cs typeface="Arial"/>
                <a:sym typeface="Arial Black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84A21E-495F-E49D-69F9-4BD669A261A6}"/>
              </a:ext>
            </a:extLst>
          </p:cNvPr>
          <p:cNvSpPr txBox="1"/>
          <p:nvPr/>
        </p:nvSpPr>
        <p:spPr>
          <a:xfrm>
            <a:off x="1663997" y="4168108"/>
            <a:ext cx="46967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>
                <a:solidFill>
                  <a:srgbClr val="E6F2F9"/>
                </a:solidFill>
                <a:latin typeface="Arial Black" panose="020B0A04020102020204" pitchFamily="34" charset="0"/>
                <a:sym typeface="Arial Black"/>
              </a:rPr>
              <a:t>4</a:t>
            </a:r>
            <a:endParaRPr lang="ru-RU" sz="4400" b="0" i="0" u="none" strike="noStrike" cap="none" dirty="0">
              <a:solidFill>
                <a:srgbClr val="000000"/>
              </a:solidFill>
              <a:latin typeface="Arial Black" panose="020B0A04020102020204" pitchFamily="34" charset="0"/>
              <a:sym typeface="Arial"/>
            </a:endParaRPr>
          </a:p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437260-2C15-4E99-222B-9FC054E924CB}"/>
              </a:ext>
            </a:extLst>
          </p:cNvPr>
          <p:cNvSpPr txBox="1"/>
          <p:nvPr/>
        </p:nvSpPr>
        <p:spPr>
          <a:xfrm>
            <a:off x="1679566" y="4937450"/>
            <a:ext cx="43853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4400" b="0" i="0" u="none" strike="noStrike" cap="none" dirty="0">
              <a:solidFill>
                <a:srgbClr val="000000"/>
              </a:solidFill>
              <a:latin typeface="Arial Black" panose="020B0A04020102020204" pitchFamily="34" charset="0"/>
              <a:sym typeface="Arial"/>
            </a:endParaRP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279E657-5CB8-842E-EDEA-5AEDB8358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313" y="2182236"/>
            <a:ext cx="3740290" cy="24935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 txBox="1">
            <a:spLocks noGrp="1"/>
          </p:cNvSpPr>
          <p:nvPr>
            <p:ph type="title"/>
          </p:nvPr>
        </p:nvSpPr>
        <p:spPr>
          <a:xfrm>
            <a:off x="1663350" y="97100"/>
            <a:ext cx="8817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 работы; практическая значимость\возможности применения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dirty="0"/>
          </a:p>
        </p:txBody>
      </p:sp>
      <p:sp>
        <p:nvSpPr>
          <p:cNvPr id="55" name="Google Shape;55;p3"/>
          <p:cNvSpPr txBox="1">
            <a:spLocks noGrp="1"/>
          </p:cNvSpPr>
          <p:nvPr>
            <p:ph type="body" idx="1"/>
          </p:nvPr>
        </p:nvSpPr>
        <p:spPr>
          <a:xfrm>
            <a:off x="1663350" y="1219201"/>
            <a:ext cx="4953760" cy="4483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indent="0">
              <a:spcAft>
                <a:spcPts val="1600"/>
              </a:spcAft>
              <a:buNone/>
            </a:pPr>
            <a:endParaRPr lang="ru-RU" dirty="0">
              <a:latin typeface="system-ui"/>
            </a:endParaRPr>
          </a:p>
          <a:p>
            <a:pPr marL="342900" indent="-342900" algn="just">
              <a:spcAft>
                <a:spcPts val="1600"/>
              </a:spcAft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Построение модели регрессии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600"/>
              </a:spcAft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Подбор подходящей модели машинного обучения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600"/>
              </a:spcAft>
            </a:pP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факторов, влияющих на качество</a:t>
            </a:r>
          </a:p>
          <a:p>
            <a:pPr marL="342900" indent="-342900" algn="just">
              <a:spcAft>
                <a:spcPts val="1600"/>
              </a:spcAft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 производства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8A37850-D58C-8D60-7753-1E65CCE47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839" y="2030977"/>
            <a:ext cx="4194070" cy="27960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8a69967c6e_0_588"/>
          <p:cNvSpPr txBox="1">
            <a:spLocks noGrp="1"/>
          </p:cNvSpPr>
          <p:nvPr>
            <p:ph type="title"/>
          </p:nvPr>
        </p:nvSpPr>
        <p:spPr>
          <a:xfrm>
            <a:off x="1663350" y="100850"/>
            <a:ext cx="6963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Методы, алгоритмы и инструменты, применяемые в работе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dirty="0"/>
          </a:p>
        </p:txBody>
      </p:sp>
      <p:sp>
        <p:nvSpPr>
          <p:cNvPr id="63" name="Google Shape;63;g18a69967c6e_0_588"/>
          <p:cNvSpPr txBox="1">
            <a:spLocks noGrp="1"/>
          </p:cNvSpPr>
          <p:nvPr>
            <p:ph type="body" idx="1"/>
          </p:nvPr>
        </p:nvSpPr>
        <p:spPr>
          <a:xfrm>
            <a:off x="1663350" y="1923149"/>
            <a:ext cx="3456900" cy="2971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None/>
            </a:pPr>
            <a:r>
              <a:rPr lang="ru-RU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Методы:</a:t>
            </a:r>
          </a:p>
          <a:p>
            <a:pPr marL="342900" indent="-342900" algn="just">
              <a:spcAft>
                <a:spcPts val="1600"/>
              </a:spcAf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DecisionTree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600"/>
              </a:spcAf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AdaBoostRegressor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Google Shape;64;g18a69967c6e_0_588"/>
          <p:cNvSpPr txBox="1">
            <a:spLocks noGrp="1"/>
          </p:cNvSpPr>
          <p:nvPr>
            <p:ph type="body" idx="2"/>
          </p:nvPr>
        </p:nvSpPr>
        <p:spPr>
          <a:xfrm>
            <a:off x="6095991" y="1923150"/>
            <a:ext cx="3456900" cy="43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None/>
            </a:pP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Инструменты:</a:t>
            </a:r>
          </a:p>
          <a:p>
            <a:pPr marL="342900" indent="-342900" algn="just">
              <a:spcAft>
                <a:spcPts val="1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</a:p>
          <a:p>
            <a:pPr marL="342900" indent="-342900" algn="just">
              <a:spcAft>
                <a:spcPts val="1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1600"/>
              </a:spcAft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1D7A6A-7F6E-7E8A-8D99-8AF1071E0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109" y="4894781"/>
            <a:ext cx="4798142" cy="14225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8a69967c6e_0_596"/>
          <p:cNvSpPr txBox="1">
            <a:spLocks noGrp="1"/>
          </p:cNvSpPr>
          <p:nvPr>
            <p:ph type="title"/>
          </p:nvPr>
        </p:nvSpPr>
        <p:spPr>
          <a:xfrm>
            <a:off x="1663350" y="-162075"/>
            <a:ext cx="6963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Этапы работы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Google Shape;71;g18a69967c6e_0_596"/>
          <p:cNvSpPr txBox="1">
            <a:spLocks noGrp="1"/>
          </p:cNvSpPr>
          <p:nvPr>
            <p:ph type="body" idx="1"/>
          </p:nvPr>
        </p:nvSpPr>
        <p:spPr>
          <a:xfrm>
            <a:off x="1663350" y="1935025"/>
            <a:ext cx="8080418" cy="4373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Font typeface="+mj-lt"/>
              <a:buAutoNum type="arabicParenR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Предобработка исходных данных</a:t>
            </a:r>
          </a:p>
          <a:p>
            <a:pPr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Font typeface="+mj-lt"/>
              <a:buAutoNum type="arabicParenR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DecisionTree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Font typeface="+mj-lt"/>
              <a:buAutoNum type="arabicParenR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AdaBoostRegressor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Font typeface="+mj-lt"/>
              <a:buAutoNum type="arabicParenR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Font typeface="+mj-lt"/>
              <a:buAutoNum type="arabicParenR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полученных результатов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>
            <a:spLocks noGrp="1"/>
          </p:cNvSpPr>
          <p:nvPr>
            <p:ph type="body" idx="1"/>
          </p:nvPr>
        </p:nvSpPr>
        <p:spPr>
          <a:xfrm>
            <a:off x="639097" y="1163625"/>
            <a:ext cx="7171252" cy="5145100"/>
          </a:xfrm>
          <a:prstGeom prst="roundRect">
            <a:avLst>
              <a:gd name="adj" fmla="val 454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21900" tIns="121900" rIns="121900" bIns="121900" anchor="t" anchorCtr="0">
            <a:normAutofit fontScale="92500" lnSpcReduction="10000"/>
          </a:bodyPr>
          <a:lstStyle/>
          <a:p>
            <a:pPr marL="0" indent="0" algn="just">
              <a:lnSpc>
                <a:spcPct val="110000"/>
              </a:lnSpc>
              <a:spcAft>
                <a:spcPts val="1600"/>
              </a:spcAft>
              <a:buNone/>
            </a:pPr>
            <a:r>
              <a:rPr lang="en-US" sz="2000" b="0" dirty="0" err="1">
                <a:effectLst/>
                <a:latin typeface="Courier New" panose="02070309020205020404" pitchFamily="49" charset="0"/>
              </a:rPr>
              <a:t>pd.read_csv</a:t>
            </a:r>
            <a:r>
              <a:rPr lang="en-US" sz="2000" b="0" dirty="0">
                <a:effectLst/>
                <a:latin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CE9178"/>
                </a:solidFill>
                <a:latin typeface="Courier New" panose="02070309020205020404" pitchFamily="49" charset="0"/>
              </a:rPr>
              <a:t>‘</a:t>
            </a:r>
            <a:r>
              <a:rPr lang="en-US" sz="2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winequality-red.csv’</a:t>
            </a:r>
            <a:r>
              <a:rPr lang="en-US" sz="2000" b="0" dirty="0">
                <a:effectLst/>
                <a:latin typeface="Courier New" panose="02070309020205020404" pitchFamily="49" charset="0"/>
              </a:rPr>
              <a:t>, delimiter=</a:t>
            </a:r>
            <a:r>
              <a:rPr lang="en-US" sz="2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‘;’</a:t>
            </a:r>
            <a:r>
              <a:rPr lang="en-US" sz="2000" b="0" dirty="0"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 algn="just">
              <a:lnSpc>
                <a:spcPct val="110000"/>
              </a:lnSpc>
              <a:spcAft>
                <a:spcPts val="1600"/>
              </a:spcAft>
              <a:buNone/>
            </a:pPr>
            <a:r>
              <a:rPr lang="en-US" sz="2000" b="0" dirty="0">
                <a:effectLst/>
                <a:latin typeface="Courier New" panose="02070309020205020404" pitchFamily="49" charset="0"/>
              </a:rPr>
              <a:t>.</a:t>
            </a:r>
            <a:r>
              <a:rPr lang="en-US" sz="2000" b="0" dirty="0" err="1">
                <a:effectLst/>
                <a:latin typeface="Courier New" panose="02070309020205020404" pitchFamily="49" charset="0"/>
              </a:rPr>
              <a:t>dropna</a:t>
            </a:r>
            <a:r>
              <a:rPr lang="en-US" sz="2000" b="0" dirty="0">
                <a:effectLst/>
                <a:latin typeface="Courier New" panose="02070309020205020404" pitchFamily="49" charset="0"/>
              </a:rPr>
              <a:t>()</a:t>
            </a:r>
          </a:p>
          <a:p>
            <a:pPr marL="0" indent="0" algn="just">
              <a:lnSpc>
                <a:spcPct val="110000"/>
              </a:lnSpc>
              <a:spcAft>
                <a:spcPts val="1600"/>
              </a:spcAft>
              <a:buNone/>
            </a:pPr>
            <a:r>
              <a:rPr lang="en-US" sz="2000" b="0" dirty="0">
                <a:effectLst/>
                <a:latin typeface="Courier New" panose="02070309020205020404" pitchFamily="49" charset="0"/>
              </a:rPr>
              <a:t>.</a:t>
            </a:r>
            <a:r>
              <a:rPr lang="en-US" sz="2000" b="0" dirty="0" err="1">
                <a:effectLst/>
                <a:latin typeface="Courier New" panose="02070309020205020404" pitchFamily="49" charset="0"/>
              </a:rPr>
              <a:t>drop_duplicates</a:t>
            </a:r>
            <a:r>
              <a:rPr lang="en-US" sz="2000" b="0" dirty="0">
                <a:effectLst/>
                <a:latin typeface="Courier New" panose="02070309020205020404" pitchFamily="49" charset="0"/>
              </a:rPr>
              <a:t>()</a:t>
            </a:r>
          </a:p>
          <a:p>
            <a:pPr marL="0" indent="0">
              <a:lnSpc>
                <a:spcPct val="110000"/>
              </a:lnSpc>
              <a:spcAft>
                <a:spcPts val="1600"/>
              </a:spcAft>
              <a:buNone/>
            </a:pPr>
            <a:endParaRPr lang="en-US" sz="2000" b="0" dirty="0"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10000"/>
              </a:lnSpc>
              <a:spcAft>
                <a:spcPts val="1600"/>
              </a:spcAft>
              <a:buNone/>
            </a:pPr>
            <a:r>
              <a:rPr lang="fr-FR" sz="2000" b="0" dirty="0">
                <a:effectLst/>
                <a:latin typeface="Courier New" panose="02070309020205020404" pitchFamily="49" charset="0"/>
              </a:rPr>
              <a:t>.fit(X_train, y_train)</a:t>
            </a:r>
          </a:p>
          <a:p>
            <a:pPr marL="0" indent="0">
              <a:lnSpc>
                <a:spcPct val="110000"/>
              </a:lnSpc>
              <a:spcAft>
                <a:spcPts val="1600"/>
              </a:spcAft>
              <a:buNone/>
            </a:pPr>
            <a:endParaRPr lang="en-US" sz="2000" b="0" dirty="0">
              <a:solidFill>
                <a:srgbClr val="DCDCDC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10000"/>
              </a:lnSpc>
              <a:spcAft>
                <a:spcPts val="1600"/>
              </a:spcAft>
              <a:buNone/>
            </a:pPr>
            <a:endParaRPr lang="en-US" sz="20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10000"/>
              </a:lnSpc>
              <a:spcAft>
                <a:spcPts val="1600"/>
              </a:spcAft>
              <a:buNone/>
            </a:pPr>
            <a:r>
              <a:rPr lang="en-US" sz="2000" b="0" dirty="0" err="1">
                <a:effectLst/>
                <a:latin typeface="Courier New" panose="02070309020205020404" pitchFamily="49" charset="0"/>
              </a:rPr>
              <a:t>cross_val_score</a:t>
            </a:r>
            <a:r>
              <a:rPr lang="en-US" sz="2000" b="0" dirty="0"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 err="1">
                <a:effectLst/>
                <a:latin typeface="Courier New" panose="02070309020205020404" pitchFamily="49" charset="0"/>
              </a:rPr>
              <a:t>dtr</a:t>
            </a:r>
            <a:r>
              <a:rPr lang="en-US" sz="2000" b="0" dirty="0"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 err="1">
                <a:effectLst/>
                <a:latin typeface="Courier New" panose="02070309020205020404" pitchFamily="49" charset="0"/>
              </a:rPr>
              <a:t>X_train</a:t>
            </a:r>
            <a:r>
              <a:rPr lang="en-US" sz="2000" b="0" dirty="0">
                <a:effectLst/>
                <a:latin typeface="Courier New" panose="02070309020205020404" pitchFamily="49" charset="0"/>
              </a:rPr>
              <a:t>, </a:t>
            </a:r>
            <a:r>
              <a:rPr lang="en-US" sz="2000" b="0" dirty="0" err="1">
                <a:effectLst/>
                <a:latin typeface="Courier New" panose="02070309020205020404" pitchFamily="49" charset="0"/>
              </a:rPr>
              <a:t>y_train</a:t>
            </a:r>
            <a:r>
              <a:rPr lang="en-US" sz="2000" b="0" dirty="0">
                <a:effectLst/>
                <a:latin typeface="Courier New" panose="02070309020205020404" pitchFamily="49" charset="0"/>
              </a:rPr>
              <a:t>, scoring=</a:t>
            </a:r>
            <a:r>
              <a:rPr lang="en-US" sz="20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'r2'</a:t>
            </a:r>
            <a:r>
              <a:rPr lang="en-US" sz="2000" b="0" dirty="0">
                <a:effectLst/>
                <a:latin typeface="Courier New" panose="02070309020205020404" pitchFamily="49" charset="0"/>
              </a:rPr>
              <a:t>).mean()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None/>
            </a:pPr>
            <a:endParaRPr sz="24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9236890" y="1646038"/>
            <a:ext cx="2512200" cy="622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600"/>
            </a:pPr>
            <a:r>
              <a:rPr lang="ru-RU" sz="1800" b="0" i="0" u="none" strike="noStrike" cap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Предобработка датасета</a:t>
            </a:r>
          </a:p>
        </p:txBody>
      </p:sp>
      <p:sp>
        <p:nvSpPr>
          <p:cNvPr id="80" name="Google Shape;80;p7"/>
          <p:cNvSpPr/>
          <p:nvPr/>
        </p:nvSpPr>
        <p:spPr>
          <a:xfrm>
            <a:off x="9236890" y="3410526"/>
            <a:ext cx="2512200" cy="622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600"/>
            </a:pPr>
            <a:r>
              <a:rPr lang="ru-RU" sz="18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модели регрессии</a:t>
            </a:r>
          </a:p>
        </p:txBody>
      </p:sp>
      <p:sp>
        <p:nvSpPr>
          <p:cNvPr id="81" name="Google Shape;81;p7"/>
          <p:cNvSpPr/>
          <p:nvPr/>
        </p:nvSpPr>
        <p:spPr>
          <a:xfrm>
            <a:off x="9236890" y="4954616"/>
            <a:ext cx="2512200" cy="9549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Оценка</a:t>
            </a:r>
            <a:r>
              <a:rPr lang="ru-RU" sz="1800" b="0" i="0" u="none" strike="noStrike" cap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качества модели (метрика R^2)</a:t>
            </a:r>
          </a:p>
        </p:txBody>
      </p:sp>
      <p:cxnSp>
        <p:nvCxnSpPr>
          <p:cNvPr id="82" name="Google Shape;82;p7"/>
          <p:cNvCxnSpPr>
            <a:cxnSpLocks/>
            <a:stCxn id="79" idx="1"/>
          </p:cNvCxnSpPr>
          <p:nvPr/>
        </p:nvCxnSpPr>
        <p:spPr>
          <a:xfrm flipH="1">
            <a:off x="7810349" y="1957438"/>
            <a:ext cx="1426541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3" name="Google Shape;83;p7"/>
          <p:cNvCxnSpPr>
            <a:cxnSpLocks/>
            <a:endCxn id="78" idx="3"/>
          </p:cNvCxnSpPr>
          <p:nvPr/>
        </p:nvCxnSpPr>
        <p:spPr>
          <a:xfrm flipH="1" flipV="1">
            <a:off x="7810349" y="3736175"/>
            <a:ext cx="1426541" cy="5043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4" name="Google Shape;84;p7"/>
          <p:cNvCxnSpPr>
            <a:cxnSpLocks/>
          </p:cNvCxnSpPr>
          <p:nvPr/>
        </p:nvCxnSpPr>
        <p:spPr>
          <a:xfrm flipH="1">
            <a:off x="7810349" y="5458688"/>
            <a:ext cx="1426541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1663350" y="-162075"/>
            <a:ext cx="6963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функции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C0A48A87-700C-398E-8DC7-A2253E6DF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>
            <a:extLst>
              <a:ext uri="{FF2B5EF4-FFF2-40B4-BE49-F238E27FC236}">
                <a16:creationId xmlns:a16="http://schemas.microsoft.com/office/drawing/2014/main" id="{65AF2BC0-C573-8B4C-AFFD-87ECDD969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097" y="1163625"/>
            <a:ext cx="7171252" cy="5145100"/>
          </a:xfrm>
          <a:prstGeom prst="roundRect">
            <a:avLst>
              <a:gd name="adj" fmla="val 454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121900" tIns="121900" rIns="121900" bIns="121900" anchor="t" anchorCtr="0">
            <a:normAutofit lnSpcReduction="10000"/>
          </a:bodyPr>
          <a:lstStyle/>
          <a:p>
            <a:pPr marL="76200" indent="0">
              <a:lnSpc>
                <a:spcPts val="1425"/>
              </a:lnSpc>
              <a:buNone/>
            </a:pPr>
            <a:endParaRPr lang="ru-RU" sz="1800" b="0" dirty="0">
              <a:effectLst/>
              <a:latin typeface="Courier New" panose="02070309020205020404" pitchFamily="49" charset="0"/>
            </a:endParaRPr>
          </a:p>
          <a:p>
            <a:pPr marL="76200" indent="0">
              <a:lnSpc>
                <a:spcPct val="100000"/>
              </a:lnSpc>
              <a:buNone/>
            </a:pPr>
            <a:r>
              <a:rPr lang="en-US" sz="2000" b="0" dirty="0" err="1">
                <a:effectLst/>
                <a:latin typeface="Courier New" panose="02070309020205020404" pitchFamily="49" charset="0"/>
              </a:rPr>
              <a:t>GridSearchCV</a:t>
            </a:r>
            <a:r>
              <a:rPr lang="en-US" sz="2000" b="0" dirty="0">
                <a:effectLst/>
                <a:latin typeface="Courier New" panose="02070309020205020404" pitchFamily="49" charset="0"/>
              </a:rPr>
              <a:t>(</a:t>
            </a:r>
            <a:r>
              <a:rPr lang="ru-RU" sz="2000" b="0" dirty="0">
                <a:effectLst/>
                <a:latin typeface="Courier New" panose="02070309020205020404" pitchFamily="49" charset="0"/>
              </a:rPr>
              <a:t>)</a:t>
            </a:r>
          </a:p>
          <a:p>
            <a:pPr marL="76200" indent="0">
              <a:lnSpc>
                <a:spcPct val="100000"/>
              </a:lnSpc>
              <a:buNone/>
            </a:pPr>
            <a:endParaRPr lang="ru-RU" sz="2000" b="0" dirty="0">
              <a:effectLst/>
              <a:latin typeface="Courier New" panose="02070309020205020404" pitchFamily="49" charset="0"/>
            </a:endParaRPr>
          </a:p>
          <a:p>
            <a:pPr marL="76200" indent="0">
              <a:lnSpc>
                <a:spcPct val="100000"/>
              </a:lnSpc>
              <a:buNone/>
            </a:pPr>
            <a:endParaRPr lang="ru-RU" sz="2000" b="0" dirty="0">
              <a:effectLst/>
              <a:latin typeface="Courier New" panose="02070309020205020404" pitchFamily="49" charset="0"/>
            </a:endParaRPr>
          </a:p>
          <a:p>
            <a:pPr marL="76200" indent="0">
              <a:lnSpc>
                <a:spcPct val="100000"/>
              </a:lnSpc>
              <a:buNone/>
            </a:pPr>
            <a:endParaRPr lang="ru-RU" sz="2000" b="0" dirty="0">
              <a:effectLst/>
              <a:latin typeface="Courier New" panose="02070309020205020404" pitchFamily="49" charset="0"/>
            </a:endParaRPr>
          </a:p>
          <a:p>
            <a:pPr marL="76200" indent="0">
              <a:lnSpc>
                <a:spcPct val="100000"/>
              </a:lnSpc>
              <a:buNone/>
            </a:pPr>
            <a:r>
              <a:rPr lang="en-US" sz="2000" b="0" dirty="0" err="1">
                <a:effectLst/>
                <a:latin typeface="Courier New" panose="02070309020205020404" pitchFamily="49" charset="0"/>
              </a:rPr>
              <a:t>pca</a:t>
            </a:r>
            <a:r>
              <a:rPr lang="en-US" sz="2000" b="0" dirty="0">
                <a:effectLst/>
                <a:latin typeface="Courier New" panose="02070309020205020404" pitchFamily="49" charset="0"/>
              </a:rPr>
              <a:t> = PCA()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2000" b="0" dirty="0" err="1">
                <a:effectLst/>
                <a:latin typeface="Courier New" panose="02070309020205020404" pitchFamily="49" charset="0"/>
              </a:rPr>
              <a:t>pca.fit</a:t>
            </a:r>
            <a:r>
              <a:rPr lang="en-US" sz="2000" b="0" dirty="0"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 err="1">
                <a:effectLst/>
                <a:latin typeface="Courier New" panose="02070309020205020404" pitchFamily="49" charset="0"/>
              </a:rPr>
              <a:t>X_scaled</a:t>
            </a:r>
            <a:r>
              <a:rPr lang="en-US" sz="2000" b="0" dirty="0"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Aft>
                <a:spcPts val="1600"/>
              </a:spcAft>
              <a:buNone/>
            </a:pPr>
            <a:endParaRPr lang="en-US" sz="2000" b="0" dirty="0">
              <a:solidFill>
                <a:srgbClr val="DCDCDC"/>
              </a:solidFill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en-US" sz="2000" b="0" dirty="0" err="1">
                <a:effectLst/>
                <a:latin typeface="Courier New" panose="02070309020205020404" pitchFamily="49" charset="0"/>
              </a:rPr>
              <a:t>sns.boxplot</a:t>
            </a:r>
            <a:r>
              <a:rPr lang="en-US" sz="2000" b="0" dirty="0">
                <a:effectLst/>
                <a:latin typeface="Courier New" panose="02070309020205020404" pitchFamily="49" charset="0"/>
              </a:rPr>
              <a:t>(x='PCA', y='</a:t>
            </a:r>
            <a:r>
              <a:rPr lang="en-US" sz="2000" b="0" dirty="0" err="1">
                <a:effectLst/>
                <a:latin typeface="Courier New" panose="02070309020205020404" pitchFamily="49" charset="0"/>
              </a:rPr>
              <a:t>training_time</a:t>
            </a:r>
            <a:r>
              <a:rPr lang="en-US" sz="2000" b="0" dirty="0">
                <a:effectLst/>
                <a:latin typeface="Courier New" panose="02070309020205020404" pitchFamily="49" charset="0"/>
              </a:rPr>
              <a:t>', data= </a:t>
            </a:r>
            <a:r>
              <a:rPr lang="en-US" sz="2000" b="0" dirty="0" err="1">
                <a:effectLst/>
                <a:latin typeface="Courier New" panose="02070309020205020404" pitchFamily="49" charset="0"/>
              </a:rPr>
              <a:t>x_axis</a:t>
            </a:r>
            <a:r>
              <a:rPr lang="en-US" sz="2000" b="0" dirty="0">
                <a:effectLst/>
                <a:latin typeface="Courier New" panose="02070309020205020404" pitchFamily="49" charset="0"/>
              </a:rPr>
              <a:t>)</a:t>
            </a:r>
            <a:endParaRPr lang="ru-RU" sz="2000" b="0" dirty="0"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1600"/>
              </a:spcAft>
              <a:buNone/>
            </a:pPr>
            <a:endParaRPr lang="ru-RU" sz="2000" b="0" dirty="0">
              <a:effectLst/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en-US" sz="2000" b="0" dirty="0" err="1">
                <a:effectLst/>
                <a:latin typeface="Courier New" panose="02070309020205020404" pitchFamily="49" charset="0"/>
              </a:rPr>
              <a:t>np.cumsum</a:t>
            </a:r>
            <a:r>
              <a:rPr lang="en-US" sz="2000" b="0" dirty="0"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 err="1">
                <a:effectLst/>
                <a:latin typeface="Courier New" panose="02070309020205020404" pitchFamily="49" charset="0"/>
              </a:rPr>
              <a:t>pca.explained_variance_ratio</a:t>
            </a:r>
            <a:r>
              <a:rPr lang="en-US" sz="2000" b="0" dirty="0">
                <a:effectLst/>
                <a:latin typeface="Courier New" panose="02070309020205020404" pitchFamily="49" charset="0"/>
              </a:rPr>
              <a:t>_)</a:t>
            </a:r>
            <a:endParaRPr lang="ru-RU" sz="2000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Aft>
                <a:spcPts val="1600"/>
              </a:spcAft>
              <a:buNone/>
            </a:pPr>
            <a:r>
              <a:rPr lang="en-US" sz="2000" b="0" dirty="0" err="1">
                <a:effectLst/>
                <a:latin typeface="Courier New" panose="02070309020205020404" pitchFamily="49" charset="0"/>
              </a:rPr>
              <a:t>np.where</a:t>
            </a:r>
            <a:r>
              <a:rPr lang="en-US" sz="2000" b="0" dirty="0">
                <a:effectLst/>
                <a:latin typeface="Courier New" panose="02070309020205020404" pitchFamily="49" charset="0"/>
              </a:rPr>
              <a:t>(</a:t>
            </a:r>
            <a:r>
              <a:rPr lang="en-US" sz="2000" b="0" dirty="0" err="1">
                <a:effectLst/>
                <a:latin typeface="Courier New" panose="02070309020205020404" pitchFamily="49" charset="0"/>
              </a:rPr>
              <a:t>cum_variance</a:t>
            </a:r>
            <a:r>
              <a:rPr lang="en-US" sz="2000" b="0" dirty="0">
                <a:effectLst/>
                <a:latin typeface="Courier New" panose="02070309020205020404" pitchFamily="49" charset="0"/>
              </a:rPr>
              <a:t> &gt;= </a:t>
            </a:r>
            <a:r>
              <a:rPr lang="en-US" sz="2000" b="0" dirty="0">
                <a:solidFill>
                  <a:schemeClr val="accent6">
                    <a:lumMod val="50000"/>
                  </a:schemeClr>
                </a:solidFill>
                <a:effectLst/>
                <a:latin typeface="Courier New" panose="02070309020205020404" pitchFamily="49" charset="0"/>
              </a:rPr>
              <a:t>0.95</a:t>
            </a:r>
            <a:r>
              <a:rPr lang="en-US" sz="2000" b="0" dirty="0">
                <a:effectLst/>
                <a:latin typeface="Courier New" panose="02070309020205020404" pitchFamily="49" charset="0"/>
              </a:rPr>
              <a:t>)[</a:t>
            </a:r>
            <a:r>
              <a:rPr lang="en-US" sz="2000" b="0" dirty="0">
                <a:solidFill>
                  <a:schemeClr val="accent6">
                    <a:lumMod val="50000"/>
                  </a:schemeClr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2000" b="0" dirty="0">
                <a:effectLst/>
                <a:latin typeface="Courier New" panose="02070309020205020404" pitchFamily="49" charset="0"/>
              </a:rPr>
              <a:t>][</a:t>
            </a:r>
            <a:r>
              <a:rPr lang="en-US" sz="2000" b="0" dirty="0">
                <a:solidFill>
                  <a:schemeClr val="accent6">
                    <a:lumMod val="50000"/>
                  </a:schemeClr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2000" b="0" dirty="0">
                <a:effectLst/>
                <a:latin typeface="Courier New" panose="02070309020205020404" pitchFamily="49" charset="0"/>
              </a:rPr>
              <a:t>]+</a:t>
            </a:r>
            <a:r>
              <a:rPr lang="en-US" sz="2000" b="0" dirty="0">
                <a:solidFill>
                  <a:schemeClr val="accent6">
                    <a:lumMod val="50000"/>
                  </a:schemeClr>
                </a:solidFill>
                <a:effectLst/>
                <a:latin typeface="Courier New" panose="02070309020205020404" pitchFamily="49" charset="0"/>
              </a:rPr>
              <a:t>1</a:t>
            </a:r>
          </a:p>
          <a:p>
            <a:pPr marL="76200" indent="0">
              <a:lnSpc>
                <a:spcPts val="1425"/>
              </a:lnSpc>
              <a:buNone/>
            </a:pPr>
            <a:endParaRPr lang="en-US" sz="14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79" name="Google Shape;79;p7">
            <a:extLst>
              <a:ext uri="{FF2B5EF4-FFF2-40B4-BE49-F238E27FC236}">
                <a16:creationId xmlns:a16="http://schemas.microsoft.com/office/drawing/2014/main" id="{49E79BE9-DC10-BEC0-DB72-C1026CD26866}"/>
              </a:ext>
            </a:extLst>
          </p:cNvPr>
          <p:cNvSpPr/>
          <p:nvPr/>
        </p:nvSpPr>
        <p:spPr>
          <a:xfrm>
            <a:off x="9236890" y="1242441"/>
            <a:ext cx="2512200" cy="86952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600"/>
            </a:pPr>
            <a:r>
              <a:rPr lang="ru-RU" sz="1800" b="0" i="0" u="none" strike="noStrike" cap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Определение оптимальных </a:t>
            </a:r>
            <a:r>
              <a:rPr lang="ru-RU" sz="1800" b="0" i="0" u="none" strike="noStrike" cap="none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гиперпараметров</a:t>
            </a:r>
            <a:endParaRPr lang="ru-RU" sz="1800" b="0" i="0" u="none" strike="noStrike" cap="none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0" name="Google Shape;80;p7">
            <a:extLst>
              <a:ext uri="{FF2B5EF4-FFF2-40B4-BE49-F238E27FC236}">
                <a16:creationId xmlns:a16="http://schemas.microsoft.com/office/drawing/2014/main" id="{BBF4619C-742E-6CE7-41F0-00CB2C11778C}"/>
              </a:ext>
            </a:extLst>
          </p:cNvPr>
          <p:cNvSpPr/>
          <p:nvPr/>
        </p:nvSpPr>
        <p:spPr>
          <a:xfrm>
            <a:off x="9236890" y="3567615"/>
            <a:ext cx="2512200" cy="622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600"/>
            </a:pPr>
            <a:r>
              <a:rPr lang="ru-RU" sz="18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Построение графиков</a:t>
            </a:r>
          </a:p>
        </p:txBody>
      </p:sp>
      <p:sp>
        <p:nvSpPr>
          <p:cNvPr id="81" name="Google Shape;81;p7">
            <a:extLst>
              <a:ext uri="{FF2B5EF4-FFF2-40B4-BE49-F238E27FC236}">
                <a16:creationId xmlns:a16="http://schemas.microsoft.com/office/drawing/2014/main" id="{B6C379E3-F903-74FC-A5CB-1B2F00BF68BA}"/>
              </a:ext>
            </a:extLst>
          </p:cNvPr>
          <p:cNvSpPr/>
          <p:nvPr/>
        </p:nvSpPr>
        <p:spPr>
          <a:xfrm>
            <a:off x="9236890" y="4895622"/>
            <a:ext cx="2512200" cy="9549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800" b="0" i="0" u="none" strike="noStrike" cap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Оптимальное количество компонент</a:t>
            </a:r>
          </a:p>
        </p:txBody>
      </p:sp>
      <p:cxnSp>
        <p:nvCxnSpPr>
          <p:cNvPr id="82" name="Google Shape;82;p7">
            <a:extLst>
              <a:ext uri="{FF2B5EF4-FFF2-40B4-BE49-F238E27FC236}">
                <a16:creationId xmlns:a16="http://schemas.microsoft.com/office/drawing/2014/main" id="{729DA856-4D08-C836-966B-723FCF07C211}"/>
              </a:ext>
            </a:extLst>
          </p:cNvPr>
          <p:cNvCxnSpPr>
            <a:cxnSpLocks/>
          </p:cNvCxnSpPr>
          <p:nvPr/>
        </p:nvCxnSpPr>
        <p:spPr>
          <a:xfrm flipH="1">
            <a:off x="7810349" y="1677204"/>
            <a:ext cx="1426541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3" name="Google Shape;83;p7">
            <a:extLst>
              <a:ext uri="{FF2B5EF4-FFF2-40B4-BE49-F238E27FC236}">
                <a16:creationId xmlns:a16="http://schemas.microsoft.com/office/drawing/2014/main" id="{AE5D2A33-5924-69DF-66A5-399614E531A8}"/>
              </a:ext>
            </a:extLst>
          </p:cNvPr>
          <p:cNvCxnSpPr>
            <a:cxnSpLocks/>
          </p:cNvCxnSpPr>
          <p:nvPr/>
        </p:nvCxnSpPr>
        <p:spPr>
          <a:xfrm flipH="1">
            <a:off x="7810349" y="3852093"/>
            <a:ext cx="142654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4" name="Google Shape;84;p7">
            <a:extLst>
              <a:ext uri="{FF2B5EF4-FFF2-40B4-BE49-F238E27FC236}">
                <a16:creationId xmlns:a16="http://schemas.microsoft.com/office/drawing/2014/main" id="{2D49DD1A-CF32-8FDE-886D-A0592FE84EEA}"/>
              </a:ext>
            </a:extLst>
          </p:cNvPr>
          <p:cNvCxnSpPr>
            <a:cxnSpLocks/>
          </p:cNvCxnSpPr>
          <p:nvPr/>
        </p:nvCxnSpPr>
        <p:spPr>
          <a:xfrm flipH="1">
            <a:off x="7810349" y="5355192"/>
            <a:ext cx="142654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0D685B3F-E21A-33E8-091F-51720033B9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3350" y="-162075"/>
            <a:ext cx="6963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функции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79;p7">
            <a:extLst>
              <a:ext uri="{FF2B5EF4-FFF2-40B4-BE49-F238E27FC236}">
                <a16:creationId xmlns:a16="http://schemas.microsoft.com/office/drawing/2014/main" id="{9144C1CA-9555-A3C5-CA3B-A8AA3FC93063}"/>
              </a:ext>
            </a:extLst>
          </p:cNvPr>
          <p:cNvSpPr/>
          <p:nvPr/>
        </p:nvSpPr>
        <p:spPr>
          <a:xfrm>
            <a:off x="9236890" y="2622079"/>
            <a:ext cx="2512200" cy="622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600"/>
            </a:pPr>
            <a:r>
              <a:rPr lang="ru-RU" sz="1800" b="0" i="0" u="none" strike="noStrike" cap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Применение </a:t>
            </a:r>
            <a:r>
              <a:rPr lang="en-US" sz="1800" b="0" i="0" u="none" strike="noStrike" cap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PCA</a:t>
            </a:r>
            <a:endParaRPr lang="ru-RU" sz="1800" b="0" i="0" u="none" strike="noStrike" cap="none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3" name="Google Shape;82;p7">
            <a:extLst>
              <a:ext uri="{FF2B5EF4-FFF2-40B4-BE49-F238E27FC236}">
                <a16:creationId xmlns:a16="http://schemas.microsoft.com/office/drawing/2014/main" id="{C99E4334-9DEC-3A0D-859A-A5A69D8F4F6A}"/>
              </a:ext>
            </a:extLst>
          </p:cNvPr>
          <p:cNvCxnSpPr>
            <a:cxnSpLocks/>
          </p:cNvCxnSpPr>
          <p:nvPr/>
        </p:nvCxnSpPr>
        <p:spPr>
          <a:xfrm flipH="1">
            <a:off x="7810349" y="2942969"/>
            <a:ext cx="1426541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124037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f64a1591f3_0_10"/>
          <p:cNvSpPr/>
          <p:nvPr/>
        </p:nvSpPr>
        <p:spPr>
          <a:xfrm>
            <a:off x="9045407" y="2913073"/>
            <a:ext cx="2512200" cy="141584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A5A5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600"/>
            </a:pPr>
            <a:r>
              <a:rPr lang="ru-RU" sz="2400" b="0" i="0" u="none" strike="noStrike" cap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Доля объясненной дисперсии</a:t>
            </a:r>
            <a:endParaRPr lang="ru-RU" sz="20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8" name="Google Shape;98;g2f64a1591f3_0_10"/>
          <p:cNvSpPr txBox="1">
            <a:spLocks noGrp="1"/>
          </p:cNvSpPr>
          <p:nvPr>
            <p:ph type="title"/>
          </p:nvPr>
        </p:nvSpPr>
        <p:spPr>
          <a:xfrm>
            <a:off x="1663350" y="127819"/>
            <a:ext cx="6963600" cy="811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492BFFC-FB2C-AEAA-EDA1-9D6E4981A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002" y="1163625"/>
            <a:ext cx="6552988" cy="4914742"/>
          </a:xfrm>
          <a:prstGeom prst="rect">
            <a:avLst/>
          </a:prstGeom>
        </p:spPr>
      </p:pic>
      <p:cxnSp>
        <p:nvCxnSpPr>
          <p:cNvPr id="95" name="Google Shape;95;g2f64a1591f3_0_10"/>
          <p:cNvCxnSpPr>
            <a:cxnSpLocks/>
          </p:cNvCxnSpPr>
          <p:nvPr/>
        </p:nvCxnSpPr>
        <p:spPr>
          <a:xfrm flipH="1">
            <a:off x="5004619" y="3620995"/>
            <a:ext cx="3923071" cy="101983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7f4edb2c82_3_0"/>
          <p:cNvSpPr txBox="1">
            <a:spLocks noGrp="1"/>
          </p:cNvSpPr>
          <p:nvPr>
            <p:ph type="title"/>
          </p:nvPr>
        </p:nvSpPr>
        <p:spPr>
          <a:xfrm>
            <a:off x="1663350" y="-162075"/>
            <a:ext cx="823773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AdaBoostRegressor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EDF07E1-7CBC-D9C5-BA55-21DD04AC2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212" y="944819"/>
            <a:ext cx="8029575" cy="5695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 txBox="1">
            <a:spLocks noGrp="1"/>
          </p:cNvSpPr>
          <p:nvPr>
            <p:ph type="body" idx="1"/>
          </p:nvPr>
        </p:nvSpPr>
        <p:spPr>
          <a:xfrm>
            <a:off x="1663349" y="1923150"/>
            <a:ext cx="7104000" cy="43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571500" indent="-34290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Приемлемое время обучения</a:t>
            </a:r>
          </a:p>
          <a:p>
            <a:pPr marL="571500" indent="-34290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Низкая сложность интеграции</a:t>
            </a:r>
          </a:p>
          <a:p>
            <a:pPr marL="571500" indent="-34290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Метрика для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AdaBoostRegressor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=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0.43</a:t>
            </a:r>
          </a:p>
          <a:p>
            <a:pPr marL="571500" indent="-342900"/>
            <a:endParaRPr dirty="0"/>
          </a:p>
        </p:txBody>
      </p:sp>
      <p:pic>
        <p:nvPicPr>
          <p:cNvPr id="114" name="Google Shape;11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9778952" y="4558748"/>
            <a:ext cx="2413048" cy="2312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3"/>
          <p:cNvSpPr txBox="1">
            <a:spLocks noGrp="1"/>
          </p:cNvSpPr>
          <p:nvPr>
            <p:ph type="title"/>
          </p:nvPr>
        </p:nvSpPr>
        <p:spPr>
          <a:xfrm>
            <a:off x="1663350" y="-162075"/>
            <a:ext cx="6963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 (выводы)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7211725" y="187650"/>
            <a:ext cx="4537500" cy="1909500"/>
          </a:xfrm>
          <a:prstGeom prst="rect">
            <a:avLst/>
          </a:prstGeom>
          <a:solidFill>
            <a:srgbClr val="FFD751">
              <a:alpha val="29409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3A3C"/>
              </a:buClr>
              <a:buSzPts val="1150"/>
              <a:buFont typeface="Roboto"/>
              <a:buChar char="●"/>
            </a:pPr>
            <a:r>
              <a:rPr lang="ru-RU" sz="1150" i="1">
                <a:solidFill>
                  <a:srgbClr val="373A3C"/>
                </a:solidFill>
                <a:latin typeface="Roboto"/>
                <a:ea typeface="Roboto"/>
                <a:cs typeface="Roboto"/>
                <a:sym typeface="Roboto"/>
              </a:rPr>
              <a:t>сделан акцент на возможности интеграции проекта\компонентов проекта;</a:t>
            </a:r>
            <a:endParaRPr sz="1150" i="1">
              <a:solidFill>
                <a:srgbClr val="373A3C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3A3C"/>
              </a:buClr>
              <a:buSzPts val="1150"/>
              <a:buFont typeface="Roboto"/>
              <a:buChar char="●"/>
            </a:pPr>
            <a:r>
              <a:rPr lang="ru-RU" sz="1150" i="1">
                <a:solidFill>
                  <a:srgbClr val="373A3C"/>
                </a:solidFill>
                <a:latin typeface="Roboto"/>
                <a:ea typeface="Roboto"/>
                <a:cs typeface="Roboto"/>
                <a:sym typeface="Roboto"/>
              </a:rPr>
              <a:t>предложены выводы, подведены итоги;</a:t>
            </a:r>
            <a:endParaRPr sz="1150" i="1">
              <a:solidFill>
                <a:srgbClr val="373A3C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016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3A3C"/>
              </a:buClr>
              <a:buSzPts val="1150"/>
              <a:buFont typeface="Roboto"/>
              <a:buChar char="●"/>
            </a:pPr>
            <a:r>
              <a:rPr lang="ru-RU" sz="1150" i="1">
                <a:solidFill>
                  <a:srgbClr val="373A3C"/>
                </a:solidFill>
                <a:latin typeface="Roboto"/>
                <a:ea typeface="Roboto"/>
                <a:cs typeface="Roboto"/>
                <a:sym typeface="Roboto"/>
              </a:rPr>
              <a:t>сделано короткое и запоминающееся высказывание в конце (по желанию).</a:t>
            </a:r>
            <a:endParaRPr sz="1150" i="1">
              <a:solidFill>
                <a:srgbClr val="373A3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303</Words>
  <Application>Microsoft Office PowerPoint</Application>
  <PresentationFormat>Широкоэкранный</PresentationFormat>
  <Paragraphs>81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Times New Roman</vt:lpstr>
      <vt:lpstr>Arial Black</vt:lpstr>
      <vt:lpstr>system-ui</vt:lpstr>
      <vt:lpstr>Courier New</vt:lpstr>
      <vt:lpstr>Roboto</vt:lpstr>
      <vt:lpstr>Arial</vt:lpstr>
      <vt:lpstr>Calibri</vt:lpstr>
      <vt:lpstr>Simple Light</vt:lpstr>
      <vt:lpstr>Определение качества вина на основе данных физико-химических тестов</vt:lpstr>
      <vt:lpstr>Актуальность и постановка проблемы</vt:lpstr>
      <vt:lpstr>Цели и задачи работы; практическая значимость\возможности применения  </vt:lpstr>
      <vt:lpstr>Методы, алгоритмы и инструменты, применяемые в работе </vt:lpstr>
      <vt:lpstr>Этапы работы</vt:lpstr>
      <vt:lpstr>Основные функции</vt:lpstr>
      <vt:lpstr>Основные функции</vt:lpstr>
      <vt:lpstr>Метод PCA</vt:lpstr>
      <vt:lpstr>Применение PCA к AdaBoostRegressor</vt:lpstr>
      <vt:lpstr>Заключение (выводы)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Methodist</dc:creator>
  <cp:lastModifiedBy>Валерий</cp:lastModifiedBy>
  <cp:revision>10</cp:revision>
  <dcterms:created xsi:type="dcterms:W3CDTF">2022-08-10T10:42:42Z</dcterms:created>
  <dcterms:modified xsi:type="dcterms:W3CDTF">2024-12-02T22:20:47Z</dcterms:modified>
</cp:coreProperties>
</file>